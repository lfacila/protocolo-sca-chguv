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CHGUV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594360"/>
            <a:ext cx="2606040" cy="1568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8580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6F4F1"/>
                </a:solidFill>
                <a:latin typeface="Calibri"/>
              </a:defRPr>
            </a:pPr>
            <a:r>
              <a:t>CONSORCI HOSPITAL GENERAL UNIVERSITARI DE VALÈNCIA</a:t>
            </a:r>
          </a:p>
          <a:p>
            <a:pPr>
              <a:spcBef>
                <a:spcPts val="1400"/>
              </a:spcBef>
              <a:defRPr sz="3300" b="1">
                <a:solidFill>
                  <a:srgbClr val="FFFFFF"/>
                </a:solidFill>
                <a:latin typeface="Calibri"/>
              </a:defRPr>
            </a:pPr>
            <a:r>
              <a:t>PROTOCOLO UNIFICADO E INTEGRADO</a:t>
            </a:r>
            <a:br/>
            <a:r>
              <a:t>DE DOLOR TORÁCICO Y SÍNDROME</a:t>
            </a:r>
            <a:br/>
            <a:r>
              <a:t>CORONARIO AGudo (SCACEST / SCASEST)</a:t>
            </a:r>
          </a:p>
          <a:p>
            <a:pPr>
              <a:spcBef>
                <a:spcPts val="1600"/>
              </a:spcBef>
              <a:defRPr sz="1500">
                <a:solidFill>
                  <a:srgbClr val="E6F4F1"/>
                </a:solidFill>
                <a:latin typeface="Calibri"/>
              </a:defRPr>
            </a:pPr>
            <a:r>
              <a:t>Servicio de Urgencias · Servicio de Cardiología (Unidad Coronaria y Hemodinámica)</a:t>
            </a:r>
            <a:br/>
            <a:r>
              <a:t>Integración operativa: ESC Guidelines 2023 · 5.ª Definición Universal IAM (2026) · Código Infarto CV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514600"/>
            <a:ext cx="3246120" cy="1143000"/>
          </a:xfrm>
          <a:prstGeom prst="roundRect">
            <a:avLst>
              <a:gd name="adj" fmla="val 3000"/>
            </a:avLst>
          </a:prstGeom>
          <a:solidFill>
            <a:srgbClr val="9C1F1F"/>
          </a:solidFill>
          <a:ln w="25400">
            <a:solidFill>
              <a:srgbClr val="9C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🔴 EMERGENCIA (&lt; 2 HORAS)</a:t>
            </a:r>
          </a:p>
          <a:p>
            <a:pPr algn="ctr">
              <a:defRPr sz="1150">
                <a:solidFill>
                  <a:srgbClr val="FFFFFF"/>
                </a:solidFill>
                <a:latin typeface="Calibri"/>
              </a:defRPr>
            </a:pPr>
            <a:r>
              <a:t>SCACEST o SCASEST Muy Alto Riesgo</a:t>
            </a:r>
          </a:p>
          <a:p>
            <a:pPr algn="ctr">
              <a:defRPr sz="1150">
                <a:solidFill>
                  <a:srgbClr val="FFFFFF"/>
                </a:solidFill>
                <a:latin typeface="Calibri"/>
              </a:defRPr>
            </a:pPr>
            <a:r>
              <a:t>Box Críticos -&gt; Hemodinámica / UCC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3840480"/>
            <a:ext cx="3246120" cy="1143000"/>
          </a:xfrm>
          <a:prstGeom prst="roundRect">
            <a:avLst>
              <a:gd name="adj" fmla="val 3000"/>
            </a:avLst>
          </a:prstGeom>
          <a:solidFill>
            <a:srgbClr val="B4690E"/>
          </a:solidFill>
          <a:ln w="25400">
            <a:solidFill>
              <a:srgbClr val="B469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🟠 ALTO RIESGO (HORARIO)</a:t>
            </a:r>
          </a:p>
          <a:p>
            <a:pPr algn="ctr">
              <a:defRPr sz="1150">
                <a:solidFill>
                  <a:srgbClr val="FFFFFF"/>
                </a:solidFill>
                <a:latin typeface="Calibri"/>
              </a:defRPr>
            </a:pPr>
            <a:r>
              <a:t>D-J y Viernes mañana (&lt;24h): SOLO AAS</a:t>
            </a:r>
          </a:p>
          <a:p>
            <a:pPr algn="ctr">
              <a:defRPr sz="1150">
                <a:solidFill>
                  <a:srgbClr val="FFFFFF"/>
                </a:solidFill>
                <a:latin typeface="Calibri"/>
              </a:defRPr>
            </a:pPr>
            <a:r>
              <a:t>V tarde, S y D mañana (&gt;24h): Fondaparinux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5166360"/>
            <a:ext cx="3246120" cy="1143000"/>
          </a:xfrm>
          <a:prstGeom prst="roundRect">
            <a:avLst>
              <a:gd name="adj" fmla="val 3000"/>
            </a:avLst>
          </a:prstGeom>
          <a:solidFill>
            <a:srgbClr val="2E7D3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🟢 BAJO RIESGO (RULE-OUT)</a:t>
            </a:r>
          </a:p>
          <a:p>
            <a:pPr algn="ctr">
              <a:defRPr sz="1150">
                <a:solidFill>
                  <a:srgbClr val="FFFFFF"/>
                </a:solidFill>
                <a:latin typeface="Calibri"/>
              </a:defRPr>
            </a:pPr>
            <a:r>
              <a:t>hs-cTnI 0h/2h &lt; p99 por sexo</a:t>
            </a:r>
          </a:p>
          <a:p>
            <a:pPr algn="ctr">
              <a:defRPr sz="1150">
                <a:solidFill>
                  <a:srgbClr val="FFFFFF"/>
                </a:solidFill>
                <a:latin typeface="Calibri"/>
              </a:defRPr>
            </a:pPr>
            <a:r>
              <a:t>Mujer ≤ 15,6 ng/L | Varón ≤ 34,2 ng/L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8016" cy="5897880"/>
          </a:xfrm>
          <a:prstGeom prst="rect">
            <a:avLst/>
          </a:prstGeom>
          <a:solidFill>
            <a:srgbClr val="07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73152"/>
            <a:ext cx="166420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CHGUV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00584"/>
            <a:ext cx="1245697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" y="54864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1. HOJA DE RUTA DE ACCESO RÁPIDO (CONSULTA EN 15 SEGUNDOS)</a:t>
            </a:r>
          </a:p>
          <a:p>
            <a:pPr>
              <a:defRPr sz="1250">
                <a:solidFill>
                  <a:srgbClr val="E6F4F1"/>
                </a:solidFill>
                <a:latin typeface="Calibri"/>
              </a:defRPr>
            </a:pPr>
            <a:r>
              <a:t>Qué hacer, dónde ubicar al paciente y qué antitrombótico administrar según el escenario y la hora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115568"/>
          <a:ext cx="116586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057400"/>
                <a:gridCol w="2240280"/>
                <a:gridCol w="2377440"/>
                <a:gridCol w="2834640"/>
              </a:tblGrid>
              <a:tr h="90678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ESCENARIO CLÍNICO</a:t>
                      </a:r>
                    </a:p>
                  </a:txBody>
                  <a:tcPr anchor="ctr">
                    <a:solidFill>
                      <a:srgbClr val="0C78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UBICACIÓN FÍSICA</a:t>
                      </a:r>
                      <a:br/>
                      <a:r>
                        <a:t>(Urgencias -&gt; Destino)</a:t>
                      </a:r>
                    </a:p>
                  </a:txBody>
                  <a:tcPr anchor="ctr">
                    <a:solidFill>
                      <a:srgbClr val="0C78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ANTIAGREGACIÓN</a:t>
                      </a:r>
                      <a:br/>
                      <a:r>
                        <a:t>EN URGENCIAS</a:t>
                      </a:r>
                    </a:p>
                  </a:txBody>
                  <a:tcPr anchor="ctr">
                    <a:solidFill>
                      <a:srgbClr val="0C78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ANTICOAGULACIÓN</a:t>
                      </a:r>
                      <a:br/>
                      <a:r>
                        <a:t>EN URGENCIAS</a:t>
                      </a:r>
                    </a:p>
                  </a:txBody>
                  <a:tcPr anchor="ctr">
                    <a:solidFill>
                      <a:srgbClr val="0C78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TIMING DE CATETERISMO</a:t>
                      </a:r>
                      <a:br/>
                      <a:r>
                        <a:t>Y REGLA DE ORO</a:t>
                      </a:r>
                    </a:p>
                  </a:txBody>
                  <a:tcPr anchor="ctr">
                    <a:solidFill>
                      <a:srgbClr val="0C7860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🔴 1. SCACEST / Equivalentes</a:t>
                      </a:r>
                      <a:br/>
                      <a:r>
                        <a:t>(Elevación ST, BRI/BRD, V7-V9, aVR)</a:t>
                      </a:r>
                    </a:p>
                  </a:txBody>
                  <a:tcPr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Box Críticos / Reanimación</a:t>
                      </a:r>
                      <a:br/>
                      <a:r>
                        <a:t>-&gt; Sala Hemodinámica -&gt; UCC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AAS 300 mg VO (150-300 IV)</a:t>
                      </a:r>
                      <a:br/>
                      <a:r>
                        <a:t>+ P2Y12 (Prasugrel 60 / Ticagrelor 180) en Sala o pre-traslado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HNF 70-100 UI/kg IV en bolo</a:t>
                      </a:r>
                      <a:br/>
                      <a:r>
                        <a:t>(PROHIBIDO Fondaparinux en ICP Primaria)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INMEDIATO (&lt; 90 min ICP 1ª)</a:t>
                      </a:r>
                      <a:br/>
                      <a:r>
                        <a:t>Fibrinólisis &lt;=10 min solo si traslado &gt;120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🔴 2. SCASEST MUY ALTO RIESGO</a:t>
                      </a:r>
                      <a:br/>
                      <a:r>
                        <a:t>(Angor refractario, Shock/EAP, TV/FV)</a:t>
                      </a:r>
                    </a:p>
                  </a:txBody>
                  <a:tcPr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Box Críticos / Observación A</a:t>
                      </a:r>
                      <a:br/>
                      <a:r>
                        <a:t>-&gt; Sala Hemodinámica -&gt; UCC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SOLO AAS 300 mg VO</a:t>
                      </a:r>
                      <a:br/>
                      <a:r>
                        <a:t>(SIN 2.º antiagregante previo a coronariografía)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HNF 60-70 UI/kg IV (máx 5000 UI)</a:t>
                      </a:r>
                      <a:br/>
                      <a:r>
                        <a:t>(Facilita cruce inmediato en Sala)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EMERGENTE (&lt; 2 HORAS)</a:t>
                      </a:r>
                      <a:br/>
                      <a:r>
                        <a:t>Igual que SCACEST sea la hora o día que sea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🟠 3A. SCASEST ALTO RIESGO</a:t>
                      </a:r>
                      <a:br/>
                      <a:r>
                        <a:t>Domingo tarde/noche a Jueves</a:t>
                      </a:r>
                      <a:br/>
                      <a:r>
                        <a:t>y Viernes por la mañana</a:t>
                      </a:r>
                    </a:p>
                  </a:txBody>
                  <a:tcPr anchor="ctr">
                    <a:solidFill>
                      <a:srgbClr val="FEF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Observación A (Monitorizado)</a:t>
                      </a:r>
                      <a:br/>
                      <a:r>
                        <a:t>-&gt; Planta Telemetría / UCC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SOLO AAS 300 mg VO + 100 mg/d</a:t>
                      </a:r>
                      <a:br/>
                      <a:r>
                        <a:t>(NO pretratar con P2Y12; cargar Prasugrel 60 mg en Sala)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Enoxaparina 1 mg/kg/12h SC</a:t>
                      </a:r>
                      <a:br/>
                      <a:r>
                        <a:t>o HNF IV si FG &lt; 30 ml/min</a:t>
                      </a:r>
                      <a:br/>
                      <a:r>
                        <a:t>o Fondaparinux 2,5 mg 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TEMPRANO (&lt; 24 HORAS)</a:t>
                      </a:r>
                      <a:br/>
                      <a:r>
                        <a:t>Cateterismo a la mañana siguiente hábil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🟢 3B. SCASEST ALTO RIESGO</a:t>
                      </a:r>
                      <a:br/>
                      <a:r>
                        <a:t>Viernes tarde, Sábado y</a:t>
                      </a:r>
                      <a:br/>
                      <a:r>
                        <a:t>Domingo por la mañana (&gt;24h)</a:t>
                      </a:r>
                    </a:p>
                  </a:txBody>
                  <a:tcPr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Observación A (Monitorizado)</a:t>
                      </a:r>
                      <a:br/>
                      <a:r>
                        <a:t>-&gt; Planta Telemetría / UCC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AAS 300 mg + Individualizar:</a:t>
                      </a:r>
                      <a:br/>
                      <a:r>
                        <a:t>• HBR / Dudas Qx: SOLO AAS</a:t>
                      </a:r>
                      <a:br/>
                      <a:r>
                        <a:t>• Bajo sangrado + alta trombosis: + Ticagrelor 180 o Clopidogrel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Fondaparinux 2,5 mg/24h SC</a:t>
                      </a:r>
                      <a:br/>
                      <a:r>
                        <a:t>(De elección OASIS-5)</a:t>
                      </a:r>
                      <a:br/>
                      <a:r>
                        <a:t>Alternativa: Enoxaparina 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DIFERIDO AL LUNES (&gt; 24-72 h)</a:t>
                      </a:r>
                      <a:br/>
                      <a:r>
                        <a:t>¡Bolo obligatorio HNF 70-85 UI/kg IV el lunes en Sala! Si empeora -&gt; &lt;2h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067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🟢 4. DOLOR BAJO RIESGO</a:t>
                      </a:r>
                      <a:br/>
                      <a:r>
                        <a:t>(ECG normal y hs-cTnI 0h/2h &lt; p99)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Triaje -&gt; Boxes A/B</a:t>
                      </a:r>
                      <a:br/>
                      <a:r>
                        <a:t>(Sin ocupar cama monitorizada)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No precisa (o mantener previo)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No precisa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E2323"/>
                          </a:solidFill>
                          <a:latin typeface="Calibri"/>
                        </a:defRPr>
                      </a:pPr>
                      <a:r>
                        <a:t>ALTA DIRECTA O ESTUDIO AMB.</a:t>
                      </a:r>
                      <a:br/>
                      <a:r>
                        <a:t>hs-cTnI p99: Mujer &lt;=15,6 | Varón &lt;=34,2 ng/L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8016" cy="5897880"/>
          </a:xfrm>
          <a:prstGeom prst="rect">
            <a:avLst/>
          </a:prstGeom>
          <a:solidFill>
            <a:srgbClr val="07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73152"/>
            <a:ext cx="166420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CHGUV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00584"/>
            <a:ext cx="1245697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" y="54864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2. ALGORITMO INTEGRADO DE ENTRADA, ECG &lt;= 10 MIN Y UBICACIÓN FÍSICA</a:t>
            </a:r>
          </a:p>
          <a:p>
            <a:pPr>
              <a:defRPr sz="1250">
                <a:solidFill>
                  <a:srgbClr val="E6F4F1"/>
                </a:solidFill>
                <a:latin typeface="Calibri"/>
              </a:defRPr>
            </a:pPr>
            <a:r>
              <a:t>Cuadros grandes editables con el circuito asistencial real del CHGUV y particularidades en la mujer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11548872" cy="841248"/>
          </a:xfrm>
          <a:prstGeom prst="roundRect">
            <a:avLst>
              <a:gd name="adj" fmla="val 3000"/>
            </a:avLst>
          </a:prstGeom>
          <a:solidFill>
            <a:srgbClr val="2D3436"/>
          </a:solidFill>
          <a:ln w="25400">
            <a:solidFill>
              <a:srgbClr val="2D3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PASO 1 · TRIAJE URGENCIAS (PRIORIDAD I-II) + ECG 12 DERIVACIONES EN &lt;= 10 MINUTOS</a:t>
            </a:r>
          </a:p>
          <a:p>
            <a:pPr algn="ctr">
              <a:defRPr sz="1200">
                <a:solidFill>
                  <a:srgbClr val="E6F4F1"/>
                </a:solidFill>
                <a:latin typeface="Calibri"/>
              </a:defRPr>
            </a:pPr>
            <a:r>
              <a:t>Sospecha de SCA: Dolor opresivo típico O Síntomas Peculiares (MUJERES, ancianos, diabéticos): disnea súbita, fatiga extrema, náuseas, dolor interescapular/epigástrico.</a:t>
            </a:r>
          </a:p>
          <a:p>
            <a:pPr algn="ctr">
              <a:defRPr sz="1200">
                <a:solidFill>
                  <a:srgbClr val="E6F4F1"/>
                </a:solidFill>
                <a:latin typeface="Calibri"/>
              </a:defRPr>
            </a:pPr>
            <a:r>
              <a:t>Si ECG inicial no diagnóstico y persiste clínica -&gt; V7-V9 (circunfleja) + V3R-V4R (VD) y seriación ECG cada 15-30 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084831"/>
            <a:ext cx="3703320" cy="1234440"/>
          </a:xfrm>
          <a:prstGeom prst="roundRect">
            <a:avLst>
              <a:gd name="adj" fmla="val 3000"/>
            </a:avLst>
          </a:prstGeom>
          <a:solidFill>
            <a:srgbClr val="9C1F1F"/>
          </a:solidFill>
          <a:ln w="25400">
            <a:solidFill>
              <a:srgbClr val="9C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🔴 VÍA ROJA: SCACEST / EQUIVALENTES</a:t>
            </a:r>
          </a:p>
          <a:p>
            <a:pPr algn="ctr">
              <a:defRPr sz="1180">
                <a:solidFill>
                  <a:srgbClr val="FFFFFF"/>
                </a:solidFill>
                <a:latin typeface="Calibri"/>
              </a:defRPr>
            </a:pPr>
            <a:r>
              <a:t>• Elevación ST (V2-V3: &gt;=2 mm H / &gt;=1,5 mm M)</a:t>
            </a:r>
          </a:p>
          <a:p>
            <a:pPr algn="ctr">
              <a:defRPr sz="1180">
                <a:solidFill>
                  <a:srgbClr val="FFFFFF"/>
                </a:solidFill>
                <a:latin typeface="Calibri"/>
              </a:defRPr>
            </a:pPr>
            <a:r>
              <a:t>• BRI/BRD nuevo, De Winter, Wellens</a:t>
            </a:r>
          </a:p>
          <a:p>
            <a:pPr algn="ctr">
              <a:defRPr sz="1180">
                <a:solidFill>
                  <a:srgbClr val="FFFFFF"/>
                </a:solidFill>
                <a:latin typeface="Calibri"/>
              </a:defRPr>
            </a:pPr>
            <a:r>
              <a:t>• Descenso V1-V3 (V7-V9 &gt;=0,5 mm), aVR</a:t>
            </a:r>
          </a:p>
          <a:p>
            <a:pPr algn="ctr">
              <a:defRPr sz="1180">
                <a:solidFill>
                  <a:srgbClr val="FFFFFF"/>
                </a:solidFill>
                <a:latin typeface="Calibri"/>
              </a:defRPr>
            </a:pPr>
            <a:r>
              <a:t>📍 DESTINO: BOX DE CRÍTICOS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84831"/>
            <a:ext cx="7662672" cy="1234440"/>
          </a:xfrm>
          <a:prstGeom prst="roundRect">
            <a:avLst>
              <a:gd name="adj" fmla="val 3000"/>
            </a:avLst>
          </a:prstGeom>
          <a:solidFill>
            <a:srgbClr val="0C7860"/>
          </a:solidFill>
          <a:ln w="25400">
            <a:solidFill>
              <a:srgbClr val="075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🟠🟢 VÍA SIN ELEVACIÓN DEL ST -&gt; ALGORITMO 0h / 2h hs-cTnI (UMBRAL POR SEXO)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• Criterio diagnóstico p99 específico por sexo: MUJER &gt; 15,6 ng/L | VARÓN &gt; 34,2 ng/L (evita infradiagnóstico femenino).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• Cambio significativo 2.ª determinación (2h): &gt;= 5 ng/L (si basal &lt;= p99) o &gt;= 20% (si basal &gt; p99).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• Diferenciar IAM Tipo 1/2 (con isquemia aguda -&gt; Protocolo SCA) vs Daño Miocárdico agudo/crónico sin isquemia.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493008"/>
            <a:ext cx="2788920" cy="3127248"/>
          </a:xfrm>
          <a:prstGeom prst="roundRect">
            <a:avLst>
              <a:gd name="adj" fmla="val 2500"/>
            </a:avLst>
          </a:prstGeom>
          <a:solidFill>
            <a:srgbClr val="FBE4E4"/>
          </a:solidFill>
          <a:ln w="22225">
            <a:solidFill>
              <a:srgbClr val="D9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3493008"/>
            <a:ext cx="2788920" cy="420624"/>
          </a:xfrm>
          <a:prstGeom prst="roundRect">
            <a:avLst>
              <a:gd name="adj" fmla="val 2500"/>
            </a:avLst>
          </a:prstGeom>
          <a:solidFill>
            <a:srgbClr val="9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🔴 CÓDIGO INFARTO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3977640"/>
            <a:ext cx="2532887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Tiempo: </a:t>
            </a:r>
            <a:r>
              <a:rPr b="0" sz="1220">
                <a:solidFill>
                  <a:srgbClr val="1E2323"/>
                </a:solidFill>
                <a:latin typeface="Calibri"/>
              </a:rPr>
              <a:t>ICP 1ª &lt; 90 min (&lt;=60 min si &lt;3h o shock).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Fármacos: </a:t>
            </a:r>
            <a:r>
              <a:rPr b="0" sz="1220">
                <a:solidFill>
                  <a:srgbClr val="1E2323"/>
                </a:solidFill>
                <a:latin typeface="Calibri"/>
              </a:rPr>
              <a:t>AAS 300 mg + P2Y12 potente + HNF 70-100 UI/kg IV.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PROHIBIDO: </a:t>
            </a:r>
            <a:r>
              <a:rPr b="0" sz="1220">
                <a:solidFill>
                  <a:srgbClr val="1E2323"/>
                </a:solidFill>
                <a:latin typeface="Calibri"/>
              </a:rPr>
              <a:t>Fondaparinux en SCACEST.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En Mujeres: </a:t>
            </a:r>
            <a:r>
              <a:rPr b="0" sz="1220">
                <a:solidFill>
                  <a:srgbClr val="1E2323"/>
                </a:solidFill>
                <a:latin typeface="Calibri"/>
              </a:rPr>
              <a:t>Buscar SCAD (disección espontánea en &lt;60a) y MINOCA.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Ingreso: </a:t>
            </a:r>
            <a:r>
              <a:rPr b="0" sz="1220">
                <a:solidFill>
                  <a:srgbClr val="1E2323"/>
                </a:solidFill>
                <a:latin typeface="Calibri"/>
              </a:rPr>
              <a:t>Unidad Coronaria (UCC).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493008"/>
            <a:ext cx="2788920" cy="3127248"/>
          </a:xfrm>
          <a:prstGeom prst="roundRect">
            <a:avLst>
              <a:gd name="adj" fmla="val 2500"/>
            </a:avLst>
          </a:prstGeom>
          <a:solidFill>
            <a:srgbClr val="FBE4E4"/>
          </a:solidFill>
          <a:ln w="22225">
            <a:solidFill>
              <a:srgbClr val="D9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6120" y="3493008"/>
            <a:ext cx="2788920" cy="420624"/>
          </a:xfrm>
          <a:prstGeom prst="roundRect">
            <a:avLst>
              <a:gd name="adj" fmla="val 2500"/>
            </a:avLst>
          </a:prstGeom>
          <a:solidFill>
            <a:srgbClr val="9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🔴 SCASEST MUY ALTO (&lt;2h)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3977640"/>
            <a:ext cx="2532887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Criterios: </a:t>
            </a:r>
            <a:r>
              <a:rPr b="0" sz="1220">
                <a:solidFill>
                  <a:srgbClr val="1E2323"/>
                </a:solidFill>
                <a:latin typeface="Calibri"/>
              </a:rPr>
              <a:t>Angor refractario, Shock/IC aguda, TV/FV, cambios dinámicos ST.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Ubicación: </a:t>
            </a:r>
            <a:r>
              <a:rPr b="0" sz="1220">
                <a:solidFill>
                  <a:srgbClr val="1E2323"/>
                </a:solidFill>
                <a:latin typeface="Calibri"/>
              </a:rPr>
              <a:t>Box Críticos / Observación A -&gt; Sala Hemodinámica.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Antitrombóticos: </a:t>
            </a:r>
            <a:r>
              <a:rPr b="0" sz="1220">
                <a:solidFill>
                  <a:srgbClr val="1E2323"/>
                </a:solidFill>
                <a:latin typeface="Calibri"/>
              </a:rPr>
              <a:t>SOLO AAS 300 mg + HNF IV (SIN 2.º antiagregante).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9C1F1F"/>
                </a:solidFill>
                <a:latin typeface="Calibri"/>
              </a:rPr>
              <a:t>Horario: </a:t>
            </a:r>
            <a:r>
              <a:rPr b="0" sz="1220">
                <a:solidFill>
                  <a:srgbClr val="1E2323"/>
                </a:solidFill>
                <a:latin typeface="Calibri"/>
              </a:rPr>
              <a:t>Cateterismo &lt; 2h incluso de madrugada o fin de semana.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93008"/>
            <a:ext cx="2834640" cy="3127248"/>
          </a:xfrm>
          <a:prstGeom prst="roundRect">
            <a:avLst>
              <a:gd name="adj" fmla="val 2500"/>
            </a:avLst>
          </a:prstGeom>
          <a:solidFill>
            <a:srgbClr val="FEF5E7"/>
          </a:solidFill>
          <a:ln w="22225">
            <a:solidFill>
              <a:srgbClr val="E5B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493008"/>
            <a:ext cx="2834640" cy="420624"/>
          </a:xfrm>
          <a:prstGeom prst="roundRect">
            <a:avLst>
              <a:gd name="adj" fmla="val 2500"/>
            </a:avLst>
          </a:prstGeom>
          <a:solidFill>
            <a:srgbClr val="B46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🟠 SCASEST ALTO RIESGO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977640"/>
            <a:ext cx="2578608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B4690E"/>
                </a:solidFill>
                <a:latin typeface="Calibri"/>
              </a:rPr>
              <a:t>Criterios: </a:t>
            </a:r>
            <a:r>
              <a:rPr b="0" sz="1200">
                <a:solidFill>
                  <a:srgbClr val="1E2323"/>
                </a:solidFill>
                <a:latin typeface="Calibri"/>
              </a:rPr>
              <a:t>IAM confirmado (hs-cTnI &gt; p99 con delta), cambios ST/T o GRACE &gt;140.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B4690E"/>
                </a:solidFill>
                <a:latin typeface="Calibri"/>
              </a:rPr>
              <a:t>Ubicación: </a:t>
            </a:r>
            <a:r>
              <a:rPr b="0" sz="1200">
                <a:solidFill>
                  <a:srgbClr val="1E2323"/>
                </a:solidFill>
                <a:latin typeface="Calibri"/>
              </a:rPr>
              <a:t>Observación A (cama monitorizada) -&gt; Planta Telemetría / UCC.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B4690E"/>
                </a:solidFill>
                <a:latin typeface="Calibri"/>
              </a:rPr>
              <a:t>D-J y Viernes mañana: </a:t>
            </a:r>
            <a:r>
              <a:rPr b="0" sz="1200">
                <a:solidFill>
                  <a:srgbClr val="1E2323"/>
                </a:solidFill>
                <a:latin typeface="Calibri"/>
              </a:rPr>
              <a:t>Cateterismo &lt;24h -&gt; SOLO AAS + Enoxaparina/HNF.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B4690E"/>
                </a:solidFill>
                <a:latin typeface="Calibri"/>
              </a:rPr>
              <a:t>V tarde, S y D mañana: </a:t>
            </a:r>
            <a:r>
              <a:rPr b="0" sz="1200">
                <a:solidFill>
                  <a:srgbClr val="1E2323"/>
                </a:solidFill>
                <a:latin typeface="Calibri"/>
              </a:rPr>
              <a:t>Cateterismo Lunes -&gt; Fondaparinux 2,5 mg SC + individualizar P2Y12.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493008"/>
            <a:ext cx="2724912" cy="3127248"/>
          </a:xfrm>
          <a:prstGeom prst="roundRect">
            <a:avLst>
              <a:gd name="adj" fmla="val 2500"/>
            </a:avLst>
          </a:prstGeom>
          <a:solidFill>
            <a:srgbClr val="E8F5E9"/>
          </a:solidFill>
          <a:ln w="22225">
            <a:solidFill>
              <a:srgbClr val="95D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3493008"/>
            <a:ext cx="2724912" cy="420624"/>
          </a:xfrm>
          <a:prstGeom prst="roundRect">
            <a:avLst>
              <a:gd name="adj" fmla="val 25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FFFFF"/>
                </a:solidFill>
                <a:latin typeface="Calibri"/>
              </a:defRPr>
            </a:pPr>
            <a:r>
              <a:t>🟢 RULE-OUT / BAJO RIESGO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3977640"/>
            <a:ext cx="2468880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2E7D32"/>
                </a:solidFill>
                <a:latin typeface="Calibri"/>
              </a:rPr>
              <a:t>Criterios: </a:t>
            </a:r>
            <a:r>
              <a:rPr b="0" sz="1220">
                <a:solidFill>
                  <a:srgbClr val="1E2323"/>
                </a:solidFill>
                <a:latin typeface="Calibri"/>
              </a:rPr>
              <a:t>Sin dolor, ECG normal, hs-cTnI &lt;5 ng/L o 0h/2h &lt; p99 sin delta.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2E7D32"/>
                </a:solidFill>
                <a:latin typeface="Calibri"/>
              </a:rPr>
              <a:t>Ubicación: </a:t>
            </a:r>
            <a:r>
              <a:rPr b="0" sz="1220">
                <a:solidFill>
                  <a:srgbClr val="1E2323"/>
                </a:solidFill>
                <a:latin typeface="Calibri"/>
              </a:rPr>
              <a:t>Boxes Generales Urgencias (no bloquea Observación A).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2E7D32"/>
                </a:solidFill>
                <a:latin typeface="Calibri"/>
              </a:rPr>
              <a:t>Destino: </a:t>
            </a:r>
            <a:r>
              <a:rPr b="0" sz="1220">
                <a:solidFill>
                  <a:srgbClr val="1E2323"/>
                </a:solidFill>
                <a:latin typeface="Calibri"/>
              </a:rPr>
              <a:t>Alta directa o Angio-TC / Test inductores si riesgo intermedio.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20">
                <a:solidFill>
                  <a:srgbClr val="2E7D32"/>
                </a:solidFill>
                <a:latin typeface="Calibri"/>
              </a:rPr>
              <a:t>Atención Mujer: </a:t>
            </a:r>
            <a:r>
              <a:rPr b="0" sz="1220">
                <a:solidFill>
                  <a:srgbClr val="1E2323"/>
                </a:solidFill>
                <a:latin typeface="Calibri"/>
              </a:rPr>
              <a:t>Si clínica persistente con eco normal, descartar ANOCA/INOCA.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8016" cy="5897880"/>
          </a:xfrm>
          <a:prstGeom prst="rect">
            <a:avLst/>
          </a:prstGeom>
          <a:solidFill>
            <a:srgbClr val="07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73152"/>
            <a:ext cx="166420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CHGUV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00584"/>
            <a:ext cx="1245697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" y="54864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3. PROTOCOLO ANTITROMBÓTICO EN SCASEST SEGÚN HORARIO DE INGRESO</a:t>
            </a:r>
          </a:p>
          <a:p>
            <a:pPr>
              <a:defRPr sz="1250">
                <a:solidFill>
                  <a:srgbClr val="E6F4F1"/>
                </a:solidFill>
                <a:latin typeface="Calibri"/>
              </a:defRPr>
            </a:pPr>
            <a:r>
              <a:t>Solución práctica al dilema entre semana vs. Viernes tarde, Sábado y Domingo por la mañana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5623560" cy="5440680"/>
          </a:xfrm>
          <a:prstGeom prst="roundRect">
            <a:avLst>
              <a:gd name="adj" fmla="val 2500"/>
            </a:avLst>
          </a:prstGeom>
          <a:solidFill>
            <a:srgbClr val="FEF5E7"/>
          </a:solidFill>
          <a:ln w="22225">
            <a:solidFill>
              <a:srgbClr val="E5B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5623560" cy="420624"/>
          </a:xfrm>
          <a:prstGeom prst="roundRect">
            <a:avLst>
              <a:gd name="adj" fmla="val 2500"/>
            </a:avLst>
          </a:prstGeom>
          <a:solidFill>
            <a:srgbClr val="B46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🟠 INGRESO DOMINGO TARDE/NOCHE A JUEVES Y VIERNES MAÑANA</a:t>
            </a:r>
            <a:br/>
            <a:r>
              <a:t>(Cateterismo Temprano garantizado en &lt; 24 horas)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627632"/>
            <a:ext cx="5367528" cy="4910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B4690E"/>
                </a:solidFill>
                <a:latin typeface="Calibri"/>
              </a:rPr>
              <a:t>1. UBICACIÓN FÍSICA: </a:t>
            </a:r>
            <a:r>
              <a:rPr b="0" sz="1300">
                <a:solidFill>
                  <a:srgbClr val="1E2323"/>
                </a:solidFill>
                <a:latin typeface="Calibri"/>
              </a:rPr>
              <a:t>Cama monitorizada en Observación A -&gt; Traslado a Planta de Cardiología con Telemetría o UCC.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B4690E"/>
                </a:solidFill>
                <a:latin typeface="Calibri"/>
              </a:rPr>
              <a:t>2. ANTIAGREGACIÓN EN URGENCIAS: </a:t>
            </a:r>
            <a:r>
              <a:rPr b="0" sz="1300">
                <a:solidFill>
                  <a:srgbClr val="1E2323"/>
                </a:solidFill>
                <a:latin typeface="Calibri"/>
              </a:rPr>
              <a:t>SOLO AAS 300 mg v.o. de carga (o 150-300 mg i.v.) + 100 mg/día.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9C1F1F"/>
                </a:solidFill>
                <a:latin typeface="Calibri"/>
              </a:rPr>
              <a:t>• PROHIBIDO PRETRATAR CON P2Y12 DE RUTINA (Clase III ESC): </a:t>
            </a:r>
            <a:r>
              <a:rPr b="0" sz="1300">
                <a:solidFill>
                  <a:srgbClr val="1E2323"/>
                </a:solidFill>
                <a:latin typeface="Calibri"/>
              </a:rPr>
              <a:t>Estudios ACCOAST y DUBIUS demuestran 0% beneficio isquémico y +65% sangrado mayor si la anatomía se conoce en &lt;24h.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B4690E"/>
                </a:solidFill>
                <a:latin typeface="Calibri"/>
              </a:rPr>
              <a:t>• ¿Cuándo se da el 2.º antiagregante?: </a:t>
            </a:r>
            <a:r>
              <a:rPr b="0" sz="1300">
                <a:solidFill>
                  <a:srgbClr val="1E2323"/>
                </a:solidFill>
                <a:latin typeface="Calibri"/>
              </a:rPr>
              <a:t>En la Sala de Hemodinámica tras ver las coronarias (Prasugrel 60 mg de elección sobre Ticagrelor según ISAR-REACT 5).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B4690E"/>
                </a:solidFill>
                <a:latin typeface="Calibri"/>
              </a:rPr>
              <a:t>3. ANTICOAGULACIÓN PARENTERAL: </a:t>
            </a:r>
            <a:r>
              <a:rPr b="0" sz="1300">
                <a:solidFill>
                  <a:srgbClr val="1E232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1E2323"/>
                </a:solidFill>
                <a:latin typeface="Calibri"/>
              </a:rPr>
              <a:t>• Función renal normal (FG &gt;= 30): </a:t>
            </a:r>
            <a:r>
              <a:rPr b="0" sz="1300">
                <a:solidFill>
                  <a:srgbClr val="1E2323"/>
                </a:solidFill>
                <a:latin typeface="Calibri"/>
              </a:rPr>
              <a:t>Enoxaparina 1 mg/kg s.c. cada 12h (si &gt;75 años: 0,75 mg/kg/12h sin bolo) o Fondaparinux 2,5 mg/24h s.c.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1E2323"/>
                </a:solidFill>
                <a:latin typeface="Calibri"/>
              </a:rPr>
              <a:t>• Insuficiencia renal severa (FG &lt; 30): </a:t>
            </a:r>
            <a:r>
              <a:rPr b="0" sz="1300">
                <a:solidFill>
                  <a:srgbClr val="1E2323"/>
                </a:solidFill>
                <a:latin typeface="Calibri"/>
              </a:rPr>
              <a:t>HNF i.v. en bomba ajustada por TTPA (Enoxaparina y Fondaparinux contraindicados si FG &lt;15-20).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9C1F1F"/>
                </a:solidFill>
                <a:latin typeface="Calibri"/>
              </a:rPr>
              <a:t>• REGLA DE NO MEZCLAR (NO CROSSOVER): </a:t>
            </a:r>
            <a:r>
              <a:rPr b="0" sz="1300">
                <a:solidFill>
                  <a:srgbClr val="1E2323"/>
                </a:solidFill>
                <a:latin typeface="Calibri"/>
              </a:rPr>
              <a:t>No cambiar entre HNF y HBPM.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650992" cy="5440680"/>
          </a:xfrm>
          <a:prstGeom prst="roundRect">
            <a:avLst>
              <a:gd name="adj" fmla="val 2500"/>
            </a:avLst>
          </a:prstGeom>
          <a:solidFill>
            <a:srgbClr val="E6F4F1"/>
          </a:solidFill>
          <a:ln w="22225">
            <a:solidFill>
              <a:srgbClr val="A3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650992" cy="420624"/>
          </a:xfrm>
          <a:prstGeom prst="roundRect">
            <a:avLst>
              <a:gd name="adj" fmla="val 2500"/>
            </a:avLst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🟢 INGRESO VIERNES TARDE, SÁBADO Y DOMINGO POR LA MAÑANA</a:t>
            </a:r>
            <a:br/>
            <a:r>
              <a:t>(Espera &gt; 24-72 horas hasta el Cateterismo del Lunes)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27632"/>
            <a:ext cx="5394959" cy="4910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60">
                <a:solidFill>
                  <a:srgbClr val="075241"/>
                </a:solidFill>
                <a:latin typeface="Calibri"/>
              </a:rPr>
              <a:t>1. ANTICOAGULACIÓN DE ELECCIÓN (48-72h DE ESPERA): </a:t>
            </a:r>
            <a:r>
              <a:rPr b="0" sz="1260">
                <a:solidFill>
                  <a:srgbClr val="1E2323"/>
                </a:solidFill>
                <a:latin typeface="Calibri"/>
              </a:rPr>
              <a:t>FONDAPARINUX 2,5 mg s.c. cada 24 horas (Clase I-A, estudio OASIS-5: reduce un 48% el sangrado mayor y reduce mortalidad a 30 días frente a Enoxaparina).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60">
                <a:solidFill>
                  <a:srgbClr val="9C1F1F"/>
                </a:solidFill>
                <a:latin typeface="Calibri"/>
              </a:rPr>
              <a:t>• AVISO OBLIGATORIO PARA EL LUNES EN SALA: </a:t>
            </a:r>
            <a:r>
              <a:rPr b="0" sz="1260">
                <a:solidFill>
                  <a:srgbClr val="1E2323"/>
                </a:solidFill>
                <a:latin typeface="Calibri"/>
              </a:rPr>
              <a:t>En el momento del cateterismo, el hemodinamista DEBE administrar un bolo de HNF i.v. (70-85 UI/kg) para evitar trombosis del catéter guía.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60">
                <a:solidFill>
                  <a:srgbClr val="1E2323"/>
                </a:solidFill>
                <a:latin typeface="Calibri"/>
              </a:rPr>
              <a:t>• Alternativa si no hay Fondaparinux: </a:t>
            </a:r>
            <a:r>
              <a:rPr b="0" sz="1260">
                <a:solidFill>
                  <a:srgbClr val="1E2323"/>
                </a:solidFill>
                <a:latin typeface="Calibri"/>
              </a:rPr>
              <a:t>Enoxaparina 1 mg/kg s.c. cada 12h (Ajustar en mujeres/ancianos de bajo peso). Si FG &lt;20 ml/min -&gt; HNF i.v.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60">
                <a:solidFill>
                  <a:srgbClr val="075241"/>
                </a:solidFill>
                <a:latin typeface="Calibri"/>
              </a:rPr>
              <a:t>2. ¿QUÉ HACER CON LA DOBLE ANTIAGREGACIÓN EL FIN DE SEMANA?: </a:t>
            </a:r>
            <a:r>
              <a:rPr b="0" sz="1260">
                <a:solidFill>
                  <a:srgbClr val="1E232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60">
                <a:solidFill>
                  <a:srgbClr val="B4690E"/>
                </a:solidFill>
                <a:latin typeface="Calibri"/>
              </a:rPr>
              <a:t>• PERFIL A (Alto riesgo hemorrágico HBR, &gt;75-80 años, FG&lt;30, anemia o sospecha de enfermedad de 3 vasos/TCI quirúrgica): </a:t>
            </a:r>
            <a:r>
              <a:rPr b="0" sz="1260">
                <a:solidFill>
                  <a:srgbClr val="1E2323"/>
                </a:solidFill>
                <a:latin typeface="Calibri"/>
              </a:rPr>
              <a:t>MANTENER SOLO AAS + Fondaparinux/HBPM durante el fin de semana.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60">
                <a:solidFill>
                  <a:srgbClr val="075241"/>
                </a:solidFill>
                <a:latin typeface="Calibri"/>
              </a:rPr>
              <a:t>• PERFIL B (Bajo riesgo hemorrágico + Alta carga trombótica: troponinas muy elevadas, cambios ST/T marcados, espera &gt;48h): </a:t>
            </a:r>
            <a:r>
              <a:rPr b="0" sz="1260">
                <a:solidFill>
                  <a:srgbClr val="1E2323"/>
                </a:solidFill>
                <a:latin typeface="Calibri"/>
              </a:rPr>
              <a:t>Valorar añadir Ticagrelor 180 mg (1.ª elección) o Clopidogrel 300-600 mg (Clase IIb ESC). NUNCA Prasugrel sin anatomía conocida.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60">
                <a:solidFill>
                  <a:srgbClr val="9C1F1F"/>
                </a:solidFill>
                <a:latin typeface="Calibri"/>
              </a:rPr>
              <a:t>3. GATILLO DE RESCATE (&lt; 2 HORAS): </a:t>
            </a:r>
            <a:r>
              <a:rPr b="0" sz="1260">
                <a:solidFill>
                  <a:srgbClr val="1E2323"/>
                </a:solidFill>
                <a:latin typeface="Calibri"/>
              </a:rPr>
              <a:t>Si presenta dolor recurrente, cambios dinámicos ST o inestabilidad el sábado/domingo -&gt; Activar Hemodinámica urgente (&lt;2h).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8016" cy="5897880"/>
          </a:xfrm>
          <a:prstGeom prst="rect">
            <a:avLst/>
          </a:prstGeom>
          <a:solidFill>
            <a:srgbClr val="07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73152"/>
            <a:ext cx="166420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CHGUV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00584"/>
            <a:ext cx="1245697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" y="54864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4. PARTICULARIDADES EN LA MUJER Y CHECKLIST DE TRASPASO (URGENCIAS -&gt; CARDIOLOGÍA)</a:t>
            </a:r>
          </a:p>
          <a:p>
            <a:pPr>
              <a:defRPr sz="1250">
                <a:solidFill>
                  <a:srgbClr val="E6F4F1"/>
                </a:solidFill>
                <a:latin typeface="Calibri"/>
              </a:defRPr>
            </a:pPr>
            <a:r>
              <a:t>Integración clínica para eliminar la brecha de género y la fragmentación asistencial en el CHGUV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5623560" cy="5440680"/>
          </a:xfrm>
          <a:prstGeom prst="roundRect">
            <a:avLst>
              <a:gd name="adj" fmla="val 2500"/>
            </a:avLst>
          </a:prstGeom>
          <a:solidFill>
            <a:srgbClr val="FBE4E4"/>
          </a:solidFill>
          <a:ln w="22225">
            <a:solidFill>
              <a:srgbClr val="D9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5623560" cy="420624"/>
          </a:xfrm>
          <a:prstGeom prst="roundRect">
            <a:avLst>
              <a:gd name="adj" fmla="val 2500"/>
            </a:avLst>
          </a:prstGeom>
          <a:solidFill>
            <a:srgbClr val="9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🚺 5 REGLAS OPERATIVAS EN LA MUJER CON DOLOR TORÁCICO (ESC)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627632"/>
            <a:ext cx="5367528" cy="4910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9C1F1F"/>
                </a:solidFill>
                <a:latin typeface="Calibri"/>
              </a:rPr>
              <a:t>1. Triaje sin sesgo de género: </a:t>
            </a:r>
            <a:r>
              <a:rPr b="0" sz="1280">
                <a:solidFill>
                  <a:srgbClr val="1E2323"/>
                </a:solidFill>
                <a:latin typeface="Calibri"/>
              </a:rPr>
              <a:t>En mujeres el dolor sigue siendo el síntoma principal, pero con mucha mayor frecuencia asocian disnea súbita, fatiga extrema, náuseas, mareo o dolor interescapular/mandibular. No etiquetar como ansiedad sin ECG (&lt;=10 min) y hs-cTnI.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9C1F1F"/>
                </a:solidFill>
                <a:latin typeface="Calibri"/>
              </a:rPr>
              <a:t>2. Punto de corte hs-cTnI específico por sexo: </a:t>
            </a:r>
            <a:r>
              <a:rPr b="0" sz="1280">
                <a:solidFill>
                  <a:srgbClr val="1E2323"/>
                </a:solidFill>
                <a:latin typeface="Calibri"/>
              </a:rPr>
              <a:t>Usar un corte neutro provoca un 20-30% de infradiagnóstico de IAM en mujeres. En el CHGUV es obligatorio aplicar: MUJER &gt; 15,6 ng/L vs VARÓN &gt; 34,2 ng/L.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B4690E"/>
                </a:solidFill>
                <a:latin typeface="Calibri"/>
              </a:rPr>
              <a:t>3. Sospecha de SCAD (Disección Coronaria Espontánea): </a:t>
            </a:r>
            <a:r>
              <a:rPr b="0" sz="1280">
                <a:solidFill>
                  <a:srgbClr val="1E2323"/>
                </a:solidFill>
                <a:latin typeface="Calibri"/>
              </a:rPr>
              <a:t>Causa hasta el 35% de los IAM en mujeres &lt;=50 años y es la 1.ª causa en embarazo/posparto. En la coronariografía se prioriza manejo conservador (curación espontánea) salvo oclusión/inestabilidad.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075241"/>
                </a:solidFill>
                <a:latin typeface="Calibri"/>
              </a:rPr>
              <a:t>4. MINOCA, Takotsubo e INOCA: </a:t>
            </a:r>
            <a:r>
              <a:rPr b="0" sz="1280">
                <a:solidFill>
                  <a:srgbClr val="1E2323"/>
                </a:solidFill>
                <a:latin typeface="Calibri"/>
              </a:rPr>
              <a:t>Es 5 veces más frecuente encontrar arterias sin estenosis &gt;=50% en mujeres. Obligatorio completar estudio con RM Cardíaca precoz.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075241"/>
                </a:solidFill>
                <a:latin typeface="Calibri"/>
              </a:rPr>
              <a:t>5. Ajuste farmacológico por peso y FG: </a:t>
            </a:r>
            <a:r>
              <a:rPr b="0" sz="1280">
                <a:solidFill>
                  <a:srgbClr val="1E2323"/>
                </a:solidFill>
                <a:latin typeface="Calibri"/>
              </a:rPr>
              <a:t>Las mujeres tienen el doble de riesgo de sangrado mayor hospitalario. Calcular siempre FG (CKD-EPI) y peso real para Enoxaparina/HNF y priorizar acceso radial.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650992" cy="5440680"/>
          </a:xfrm>
          <a:prstGeom prst="roundRect">
            <a:avLst>
              <a:gd name="adj" fmla="val 2500"/>
            </a:avLst>
          </a:prstGeom>
          <a:solidFill>
            <a:srgbClr val="E6F4F1"/>
          </a:solidFill>
          <a:ln w="22225">
            <a:solidFill>
              <a:srgbClr val="A3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650992" cy="420624"/>
          </a:xfrm>
          <a:prstGeom prst="roundRect">
            <a:avLst>
              <a:gd name="adj" fmla="val 2500"/>
            </a:avLst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📋 CHECKLIST DE VERIFICACIÓN EN EL TRASPASO URGENCIAS -&gt; CARDIOLOGÍA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27632"/>
            <a:ext cx="5394959" cy="4910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075241"/>
                </a:solidFill>
                <a:latin typeface="Calibri"/>
              </a:rPr>
              <a:t>☑️ 1. UBICACIÓN FÍSICA SEGURA: </a:t>
            </a:r>
            <a:r>
              <a:rPr b="0" sz="1280">
                <a:solidFill>
                  <a:srgbClr val="1E2323"/>
                </a:solidFill>
                <a:latin typeface="Calibri"/>
              </a:rPr>
              <a:t>Todo paciente con SCACEST o SCASEST (Muy Alto o Alto Riesgo) debe estar en cama con monitorización ECG continua y desfibrilador accesible (Box Críticos u Observación A).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075241"/>
                </a:solidFill>
                <a:latin typeface="Calibri"/>
              </a:rPr>
              <a:t>☑️ 2. HORA EXACTA DE TOMAS Y DOSIS: </a:t>
            </a:r>
            <a:r>
              <a:rPr b="0" sz="1280">
                <a:solidFill>
                  <a:srgbClr val="1E2323"/>
                </a:solidFill>
                <a:latin typeface="Calibri"/>
              </a:rPr>
              <a:t>Registrar en hoja de tratamiento la hora exacta de AAS, qué anticoagulante se ha administrado (HNF, Enoxaparina o Fondaparinux) y si lleva o no P2Y12.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B4690E"/>
                </a:solidFill>
                <a:latin typeface="Calibri"/>
              </a:rPr>
              <a:t>☑️ 3. ETIQUETA DE ALERTA SI LLEVA FONDAPARINUX: </a:t>
            </a:r>
            <a:r>
              <a:rPr b="0" sz="1280">
                <a:solidFill>
                  <a:srgbClr val="1E2323"/>
                </a:solidFill>
                <a:latin typeface="Calibri"/>
              </a:rPr>
              <a:t>Si ingresa Viernes tarde, Sábado o Domingo por la mañana con Fondaparinux 2,5 mg s.c., anotar visible: 'RECORDATORIO HEMODINÁMICA LUNES: Bolo HNF 70-85 UI/kg i.v. en Sala'.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075241"/>
                </a:solidFill>
                <a:latin typeface="Calibri"/>
              </a:rPr>
              <a:t>☑️ 4. LABORATORIO Y PERFIL COMPLETO DE INGRESO: </a:t>
            </a:r>
            <a:r>
              <a:rPr b="0" sz="1280">
                <a:solidFill>
                  <a:srgbClr val="1E2323"/>
                </a:solidFill>
                <a:latin typeface="Calibri"/>
              </a:rPr>
              <a:t>hs-cTnI seriada (0h/2h), Creatinina/FG, Hemograma, Coagulación, Perfil lipídico completo, HbA1c y NT-proBNP.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80">
                <a:solidFill>
                  <a:srgbClr val="075241"/>
                </a:solidFill>
                <a:latin typeface="Calibri"/>
              </a:rPr>
              <a:t>☑️ 5. TRATAMIENTO COMPLEMENTARIO AL INGRESO: </a:t>
            </a:r>
            <a:r>
              <a:rPr b="0" sz="1280">
                <a:solidFill>
                  <a:srgbClr val="1E2323"/>
                </a:solidFill>
                <a:latin typeface="Calibri"/>
              </a:rPr>
              <a:t>Estatina de alta potencia precoz (Atorvastatina 80 mg o Rosuvastatina 20-40 mg) + IBP (Pantoprazol 40 mg) + Betabloqueante si FEVI &lt;=40% sin IC aguda/Killip &gt;=III.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C7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8016" cy="5897880"/>
          </a:xfrm>
          <a:prstGeom prst="rect">
            <a:avLst/>
          </a:prstGeom>
          <a:solidFill>
            <a:srgbClr val="075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73152"/>
            <a:ext cx="1664208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 CHGUV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8" y="100584"/>
            <a:ext cx="1245697" cy="7498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2608" y="54864"/>
            <a:ext cx="987552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5. ¿CUÁNDO CALCULAR EL GRACE? ACCESO POR QR Y ALGORITMO INTERACTIVO</a:t>
            </a:r>
          </a:p>
          <a:p>
            <a:pPr>
              <a:defRPr sz="1250">
                <a:solidFill>
                  <a:srgbClr val="E6F4F1"/>
                </a:solidFill>
                <a:latin typeface="Calibri"/>
              </a:defRPr>
            </a:pPr>
            <a:r>
              <a:t>Uso racional de la escala GRACE (Guías ESC 2023) y herramienta digital de decisión en 15 segundos</a:t>
            </a:r>
          </a:p>
        </p:txBody>
      </p:sp>
      <p:pic>
        <p:nvPicPr>
          <p:cNvPr id="7" name="Picture 6" descr="qr_grace_chgu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43000"/>
            <a:ext cx="11475720" cy="36386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47472" y="4709160"/>
            <a:ext cx="11475720" cy="1874519"/>
          </a:xfrm>
          <a:prstGeom prst="roundRect">
            <a:avLst>
              <a:gd name="adj" fmla="val 2500"/>
            </a:avLst>
          </a:prstGeom>
          <a:solidFill>
            <a:srgbClr val="F4F6F6"/>
          </a:solidFill>
          <a:ln w="22225">
            <a:solidFill>
              <a:srgbClr val="C3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4709160"/>
            <a:ext cx="11475720" cy="420624"/>
          </a:xfrm>
          <a:prstGeom prst="roundRect">
            <a:avLst>
              <a:gd name="adj" fmla="val 2500"/>
            </a:avLst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80" b="1">
                <a:solidFill>
                  <a:srgbClr val="FFFFFF"/>
                </a:solidFill>
                <a:latin typeface="Calibri"/>
              </a:defRPr>
            </a:pPr>
            <a:r>
              <a:t>💻 ALGORITMO WEB INTERACTIVO DEL CHGUV (ACCESO DESDE ORDENADOR DE GUARDIA O MÓVIL)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5193792"/>
            <a:ext cx="11219688" cy="1344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50">
                <a:solidFill>
                  <a:srgbClr val="075241"/>
                </a:solidFill>
                <a:latin typeface="Calibri"/>
              </a:rPr>
              <a:t>• Archivo autónomo listo para usar sin internet: </a:t>
            </a:r>
            <a:r>
              <a:rPr b="0" sz="1250">
                <a:solidFill>
                  <a:srgbClr val="1E2323"/>
                </a:solidFill>
                <a:latin typeface="Calibri"/>
              </a:rPr>
              <a:t>App_Interactiva_Protocolo_SCA_CHGUV.html (incluido en la carpeta del protocolo).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50">
                <a:solidFill>
                  <a:srgbClr val="1E2323"/>
                </a:solidFill>
                <a:latin typeface="Calibri"/>
              </a:rPr>
              <a:t>• Funcionalidades en 3 clics: </a:t>
            </a:r>
            <a:r>
              <a:rPr b="0" sz="1250">
                <a:solidFill>
                  <a:srgbClr val="1E2323"/>
                </a:solidFill>
                <a:latin typeface="Calibri"/>
              </a:rPr>
              <a:t>1) Calcula automáticamente el delta 0h/2h de hs-cTnI con el punto de corte por sexo (Mujer &gt;15,6 / Varón &gt;34,2 ng/L); 2) Indica la cama de destino y la pauta exacta de AAS/P2Y12/Fondaparinux/Enoxaparina según el día y hora de ingreso; 3) Incluye Calculadora GRACE integrada y generador de nota clínica para pegar en la Historia Electrónica.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50">
                <a:solidFill>
                  <a:srgbClr val="B4690E"/>
                </a:solidFill>
                <a:latin typeface="Calibri"/>
              </a:rPr>
              <a:t>• Publicación web gratuita en 30 segundos: </a:t>
            </a:r>
            <a:r>
              <a:rPr b="0" sz="1250">
                <a:solidFill>
                  <a:srgbClr val="1E2323"/>
                </a:solidFill>
                <a:latin typeface="Calibri"/>
              </a:rPr>
              <a:t>Se puede subir directamente a Netlify Drop (app.netlify.com/drop) o GitHub Pages o a la Intranet del CHGUV.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